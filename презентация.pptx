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Raleway"/>
      <p:regular r:id="rId17"/>
    </p:embeddedFont>
    <p:embeddedFont>
      <p:font typeface="Raleway"/>
      <p:regular r:id="rId18"/>
    </p:embeddedFont>
    <p:embeddedFont>
      <p:font typeface="Raleway"/>
      <p:regular r:id="rId19"/>
    </p:embeddedFont>
    <p:embeddedFont>
      <p:font typeface="Raleway"/>
      <p:regular r:id="rId20"/>
    </p:embeddedFont>
    <p:embeddedFont>
      <p:font typeface="Roboto"/>
      <p:regular r:id="rId21"/>
    </p:embeddedFont>
    <p:embeddedFont>
      <p:font typeface="Roboto"/>
      <p:regular r:id="rId22"/>
    </p:embeddedFont>
    <p:embeddedFont>
      <p:font typeface="Roboto"/>
      <p:regular r:id="rId23"/>
    </p:embeddedFont>
    <p:embeddedFont>
      <p:font typeface="Roboto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11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25372"/>
            <a:ext cx="130428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City Events: Веб-приложение для поиска и оценки городских мероприятий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89655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Тип работы: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Курсовой проект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33875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Дисциплины: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Основы программирования и основы проектирования базы данных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78095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Автор: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Галаев Рамазан Хасанович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22315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Группа: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251-321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84120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48320"/>
            <a:ext cx="604170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Актуальность проекта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8800" y="3917752"/>
            <a:ext cx="340162" cy="3401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30906" y="39107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Растущий интерес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530906" y="4401145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Рост спроса на локальные события.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20903" y="3917752"/>
            <a:ext cx="340162" cy="3401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73008" y="3910727"/>
            <a:ext cx="33383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Потребность в удобстве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973008" y="4401145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Отсутствие удобных сервисов поиска мероприятий.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63006" y="3917752"/>
            <a:ext cx="340162" cy="3401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415111" y="3910727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Недостаток обратной связи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415111" y="4755475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Мало платформ с отзывами и рейтингами.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4855" y="762953"/>
            <a:ext cx="5788938" cy="665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4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Цель и задачи проекта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744855" y="1853684"/>
            <a:ext cx="13140690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Проект City Events: комплексное решение для городских событий.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44855" y="2433638"/>
            <a:ext cx="13140690" cy="1338382"/>
          </a:xfrm>
          <a:prstGeom prst="roundRect">
            <a:avLst>
              <a:gd name="adj" fmla="val 8199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1995" y="2433638"/>
            <a:ext cx="91440" cy="1338382"/>
          </a:xfrm>
          <a:prstGeom prst="roundRect">
            <a:avLst>
              <a:gd name="adj" fmla="val 97759"/>
            </a:avLst>
          </a:prstGeom>
          <a:solidFill>
            <a:srgbClr val="1B1B27"/>
          </a:solidFill>
          <a:ln/>
        </p:spPr>
      </p:sp>
      <p:sp>
        <p:nvSpPr>
          <p:cNvPr id="6" name="Text 4"/>
          <p:cNvSpPr/>
          <p:nvPr/>
        </p:nvSpPr>
        <p:spPr>
          <a:xfrm>
            <a:off x="1049060" y="2669262"/>
            <a:ext cx="3192423" cy="398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5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Цель проекта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049060" y="3195876"/>
            <a:ext cx="12600861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Разработка веб-приложения для поиска, просмотра и оценки городских мероприятий.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44855" y="4011454"/>
            <a:ext cx="212765" cy="265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44855" y="4350187"/>
            <a:ext cx="6463903" cy="2286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0" name="Text 8"/>
          <p:cNvSpPr/>
          <p:nvPr/>
        </p:nvSpPr>
        <p:spPr>
          <a:xfrm>
            <a:off x="744855" y="4502229"/>
            <a:ext cx="3839289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Проектирование базы данных</a:t>
            </a:r>
            <a:endParaRPr lang="en-US" sz="2050" dirty="0"/>
          </a:p>
        </p:txBody>
      </p:sp>
      <p:sp>
        <p:nvSpPr>
          <p:cNvPr id="11" name="Text 9"/>
          <p:cNvSpPr/>
          <p:nvPr/>
        </p:nvSpPr>
        <p:spPr>
          <a:xfrm>
            <a:off x="744855" y="4962287"/>
            <a:ext cx="6463903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Создание структуры данных (пользователи, события, отзывы).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421523" y="4011454"/>
            <a:ext cx="212765" cy="265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421523" y="4350187"/>
            <a:ext cx="6464022" cy="2286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7421523" y="4502229"/>
            <a:ext cx="3740587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Реализация серверной части</a:t>
            </a:r>
            <a:endParaRPr lang="en-US" sz="2050" dirty="0"/>
          </a:p>
        </p:txBody>
      </p:sp>
      <p:sp>
        <p:nvSpPr>
          <p:cNvPr id="15" name="Text 13"/>
          <p:cNvSpPr/>
          <p:nvPr/>
        </p:nvSpPr>
        <p:spPr>
          <a:xfrm>
            <a:off x="7421523" y="4962287"/>
            <a:ext cx="6464022" cy="681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Разработка логики обработки запросов, управления данными и API.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44855" y="6015633"/>
            <a:ext cx="212765" cy="265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744855" y="6354366"/>
            <a:ext cx="6463903" cy="2286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8" name="Text 16"/>
          <p:cNvSpPr/>
          <p:nvPr/>
        </p:nvSpPr>
        <p:spPr>
          <a:xfrm>
            <a:off x="744855" y="6506408"/>
            <a:ext cx="5601176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Реализация пользовательского интерфейса</a:t>
            </a:r>
            <a:endParaRPr lang="en-US" sz="2050" dirty="0"/>
          </a:p>
        </p:txBody>
      </p:sp>
      <p:sp>
        <p:nvSpPr>
          <p:cNvPr id="19" name="Text 17"/>
          <p:cNvSpPr/>
          <p:nvPr/>
        </p:nvSpPr>
        <p:spPr>
          <a:xfrm>
            <a:off x="744855" y="6966466"/>
            <a:ext cx="6463903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Создание интуитивного и адаптивного веб-интерфейса.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7421523" y="6015633"/>
            <a:ext cx="212765" cy="2659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7421523" y="6354366"/>
            <a:ext cx="6464022" cy="2286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2" name="Text 20"/>
          <p:cNvSpPr/>
          <p:nvPr/>
        </p:nvSpPr>
        <p:spPr>
          <a:xfrm>
            <a:off x="7421523" y="6506408"/>
            <a:ext cx="6047780" cy="332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Обеспечение работы с отзывами и рейтингами</a:t>
            </a:r>
            <a:endParaRPr lang="en-US" sz="2050" dirty="0"/>
          </a:p>
        </p:txBody>
      </p:sp>
      <p:sp>
        <p:nvSpPr>
          <p:cNvPr id="23" name="Text 21"/>
          <p:cNvSpPr/>
          <p:nvPr/>
        </p:nvSpPr>
        <p:spPr>
          <a:xfrm>
            <a:off x="7421523" y="6966466"/>
            <a:ext cx="6464022" cy="340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Интеграция функционала для отзывов и рейтингов.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02237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Предметная область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6464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Веб-приложение City Events охватывает несколько ключевых сущностей, формирующих основу системы.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603188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1B1B27"/>
          </a:solidFill>
          <a:ln/>
        </p:spPr>
      </p:sp>
      <p:sp>
        <p:nvSpPr>
          <p:cNvPr id="5" name="Text 3"/>
          <p:cNvSpPr/>
          <p:nvPr/>
        </p:nvSpPr>
        <p:spPr>
          <a:xfrm>
            <a:off x="1133951" y="34826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Пользователи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33951" y="3973116"/>
            <a:ext cx="38184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Зарегистрированные участники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133951" y="4415314"/>
            <a:ext cx="38184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Взаимодействие с платформой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35893" y="3603188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1B1B27"/>
          </a:solidFill>
          <a:ln/>
        </p:spPr>
      </p:sp>
      <p:sp>
        <p:nvSpPr>
          <p:cNvPr id="9" name="Text 7"/>
          <p:cNvSpPr/>
          <p:nvPr/>
        </p:nvSpPr>
        <p:spPr>
          <a:xfrm>
            <a:off x="5576054" y="34826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Мероприятия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76054" y="3973116"/>
            <a:ext cx="38184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Городские события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5576054" y="4415314"/>
            <a:ext cx="38184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Детальная информация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77995" y="3603188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1B1B27"/>
          </a:solidFill>
          <a:ln/>
        </p:spPr>
      </p:sp>
      <p:sp>
        <p:nvSpPr>
          <p:cNvPr id="13" name="Text 11"/>
          <p:cNvSpPr/>
          <p:nvPr/>
        </p:nvSpPr>
        <p:spPr>
          <a:xfrm>
            <a:off x="10018157" y="34826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Отзывы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18157" y="3973116"/>
            <a:ext cx="38184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Комментарии пользователей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10018157" y="4415314"/>
            <a:ext cx="38184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Оценки мероприятий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52336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1B1B27"/>
          </a:solidFill>
          <a:ln/>
        </p:spPr>
      </p:sp>
      <p:sp>
        <p:nvSpPr>
          <p:cNvPr id="17" name="Text 15"/>
          <p:cNvSpPr/>
          <p:nvPr/>
        </p:nvSpPr>
        <p:spPr>
          <a:xfrm>
            <a:off x="1133951" y="52318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Избранные события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33951" y="5722263"/>
            <a:ext cx="603944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Персональные списки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133951" y="6164461"/>
            <a:ext cx="603944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Предпочтительные мероприятия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56884" y="5352336"/>
            <a:ext cx="113348" cy="113348"/>
          </a:xfrm>
          <a:prstGeom prst="roundRect">
            <a:avLst>
              <a:gd name="adj" fmla="val 403360"/>
            </a:avLst>
          </a:prstGeom>
          <a:solidFill>
            <a:srgbClr val="1B1B27"/>
          </a:solidFill>
          <a:ln/>
        </p:spPr>
      </p:sp>
      <p:sp>
        <p:nvSpPr>
          <p:cNvPr id="21" name="Text 19"/>
          <p:cNvSpPr/>
          <p:nvPr/>
        </p:nvSpPr>
        <p:spPr>
          <a:xfrm>
            <a:off x="7797046" y="523184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Категории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797046" y="5722263"/>
            <a:ext cx="603956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Классификация мероприятий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7797046" y="6164461"/>
            <a:ext cx="603956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 типам: концерты, выставки, лекции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45049"/>
            <a:ext cx="72704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Используемые технологии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507456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Для реализации проекта City Events были выбраны современные и эффективные технологии, обеспечивающие надежность и масштабируемость системы.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48841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8860" y="353091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530906" y="3566279"/>
            <a:ext cx="3421499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Язык программирования: Python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30906" y="4411028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Простота, читаемость кода, обширные библиотеки.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35893" y="348841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20963" y="353091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8"/>
          <p:cNvSpPr/>
          <p:nvPr/>
        </p:nvSpPr>
        <p:spPr>
          <a:xfrm>
            <a:off x="5973008" y="356627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Фреймворк: Django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973008" y="4056698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Быстрая и безопасная разработка серверной части.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77995" y="348841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63065" y="3530918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2"/>
          <p:cNvSpPr/>
          <p:nvPr/>
        </p:nvSpPr>
        <p:spPr>
          <a:xfrm>
            <a:off x="10415111" y="3566279"/>
            <a:ext cx="33622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База данных: PostgreSQL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415111" y="4056698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Мощная, надежная реляционная СУБД.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59046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8860" y="563296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650" dirty="0"/>
          </a:p>
        </p:txBody>
      </p:sp>
      <p:sp>
        <p:nvSpPr>
          <p:cNvPr id="18" name="Text 16"/>
          <p:cNvSpPr/>
          <p:nvPr/>
        </p:nvSpPr>
        <p:spPr>
          <a:xfrm>
            <a:off x="1530906" y="566832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ORM: Django ORM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30906" y="6158746"/>
            <a:ext cx="564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Удобное взаимодействие с базой данных через Python.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56884" y="559046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41955" y="5632966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650"/>
              </a:lnSpc>
              <a:buNone/>
            </a:pPr>
            <a:r>
              <a:rPr lang="en-US" sz="2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2650" dirty="0"/>
          </a:p>
        </p:txBody>
      </p:sp>
      <p:sp>
        <p:nvSpPr>
          <p:cNvPr id="22" name="Text 20"/>
          <p:cNvSpPr/>
          <p:nvPr/>
        </p:nvSpPr>
        <p:spPr>
          <a:xfrm>
            <a:off x="8194000" y="5668327"/>
            <a:ext cx="455521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Интерфейс: HTML, CSS, Bootstrap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194000" y="6158746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Адаптивный, современный и функциональный UI.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00920"/>
            <a:ext cx="597931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Архитектура системы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76332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Веб-приложение City Events построено на классической трехзвенной архитектуре клиент-серверного взаимодействия.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38138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Клиент (Браузер):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Обрабатывает ввод пользователя, отправляет HTTP-запросы.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82357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Сервер (Django):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Обрабатывает запросы, взаимодействует с базой данных через ORM, реализует бизнес-логику.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26577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База данных (PostgreSQL):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Надежно хранит все данные приложения.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49636"/>
            <a:ext cx="74790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ER-диаграмма базы данных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01204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Ключевые сущности базы данных проекта City Events и их взаимосвязи: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63009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Пользователь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072295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Мероприятие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51449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Отзыв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4956691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Избранное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398889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Категория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01694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Данная схема обеспечивает целостность данных и эффективное взаимодействие между компонентами приложения.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54016"/>
            <a:ext cx="622434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Логическая модель БД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81642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30906" y="2894290"/>
            <a:ext cx="30958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Пользователь — Отзыв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30906" y="3384709"/>
            <a:ext cx="564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Один пользователь может оставлять множество отзывов (связь один-ко-многим).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56884" y="2816423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94000" y="2894290"/>
            <a:ext cx="309872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Мероприятие — Отзыв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94000" y="3384709"/>
            <a:ext cx="56426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Одно мероприятие может иметь множество отзывов от разных пользователей (связь один-ко-многим).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92704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30906" y="5004911"/>
            <a:ext cx="564249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Пользователь — Избранное — Мероприятие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30906" y="5849660"/>
            <a:ext cx="564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Отношение многие-ко-многим, реализованное через промежуточную таблицу "Избранное".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56884" y="4927044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94000" y="5004911"/>
            <a:ext cx="368296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Категория — Мероприятие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194000" y="5495330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Одна категория может содержать множество мероприятий (связь один-ко-многим).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0098" y="614363"/>
            <a:ext cx="8480227" cy="696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Основной функционал системы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80098" y="1756648"/>
            <a:ext cx="13070205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City Events предоставляет широкий спектр функций для удобного взаимодействия пользователей с городскими мероприятиями.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80098" y="3054906"/>
            <a:ext cx="4208145" cy="2353985"/>
          </a:xfrm>
          <a:prstGeom prst="roundRect">
            <a:avLst>
              <a:gd name="adj" fmla="val 6215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80098" y="3024426"/>
            <a:ext cx="4208145" cy="121920"/>
          </a:xfrm>
          <a:prstGeom prst="roundRect">
            <a:avLst>
              <a:gd name="adj" fmla="val 76787"/>
            </a:avLst>
          </a:prstGeom>
          <a:solidFill>
            <a:srgbClr val="1B1B27"/>
          </a:solidFill>
          <a:ln/>
        </p:spPr>
      </p:sp>
      <p:sp>
        <p:nvSpPr>
          <p:cNvPr id="6" name="Shape 4"/>
          <p:cNvSpPr/>
          <p:nvPr/>
        </p:nvSpPr>
        <p:spPr>
          <a:xfrm>
            <a:off x="2549843" y="2720578"/>
            <a:ext cx="668655" cy="668655"/>
          </a:xfrm>
          <a:prstGeom prst="roundRect">
            <a:avLst>
              <a:gd name="adj" fmla="val 136752"/>
            </a:avLst>
          </a:prstGeom>
          <a:solidFill>
            <a:srgbClr val="1B1B27"/>
          </a:solidFill>
          <a:ln/>
        </p:spPr>
      </p:sp>
      <p:sp>
        <p:nvSpPr>
          <p:cNvPr id="7" name="Text 5"/>
          <p:cNvSpPr/>
          <p:nvPr/>
        </p:nvSpPr>
        <p:spPr>
          <a:xfrm>
            <a:off x="2750463" y="2887742"/>
            <a:ext cx="267414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033462" y="3612118"/>
            <a:ext cx="3689747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Регистрация и авторизация</a:t>
            </a:r>
            <a:endParaRPr lang="en-US" sz="2150" dirty="0"/>
          </a:p>
        </p:txBody>
      </p:sp>
      <p:sp>
        <p:nvSpPr>
          <p:cNvPr id="9" name="Text 7"/>
          <p:cNvSpPr/>
          <p:nvPr/>
        </p:nvSpPr>
        <p:spPr>
          <a:xfrm>
            <a:off x="1033462" y="4094083"/>
            <a:ext cx="3701415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Создание аккаунта, безопасный вход.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211128" y="3054906"/>
            <a:ext cx="4208145" cy="2353985"/>
          </a:xfrm>
          <a:prstGeom prst="roundRect">
            <a:avLst>
              <a:gd name="adj" fmla="val 6215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211128" y="3024426"/>
            <a:ext cx="4208145" cy="121920"/>
          </a:xfrm>
          <a:prstGeom prst="roundRect">
            <a:avLst>
              <a:gd name="adj" fmla="val 76787"/>
            </a:avLst>
          </a:prstGeom>
          <a:solidFill>
            <a:srgbClr val="1B1B27"/>
          </a:solidFill>
          <a:ln/>
        </p:spPr>
      </p:sp>
      <p:sp>
        <p:nvSpPr>
          <p:cNvPr id="12" name="Shape 10"/>
          <p:cNvSpPr/>
          <p:nvPr/>
        </p:nvSpPr>
        <p:spPr>
          <a:xfrm>
            <a:off x="6980873" y="2720578"/>
            <a:ext cx="668655" cy="668655"/>
          </a:xfrm>
          <a:prstGeom prst="roundRect">
            <a:avLst>
              <a:gd name="adj" fmla="val 136752"/>
            </a:avLst>
          </a:prstGeom>
          <a:solidFill>
            <a:srgbClr val="1B1B27"/>
          </a:solidFill>
          <a:ln/>
        </p:spPr>
      </p:sp>
      <p:sp>
        <p:nvSpPr>
          <p:cNvPr id="13" name="Text 11"/>
          <p:cNvSpPr/>
          <p:nvPr/>
        </p:nvSpPr>
        <p:spPr>
          <a:xfrm>
            <a:off x="7181493" y="2887742"/>
            <a:ext cx="267414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464493" y="3612118"/>
            <a:ext cx="3701415" cy="696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Просмотр списка мероприятий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5464493" y="4442341"/>
            <a:ext cx="3701415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Актуальные события, детализация.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9642158" y="3054906"/>
            <a:ext cx="4208145" cy="2353985"/>
          </a:xfrm>
          <a:prstGeom prst="roundRect">
            <a:avLst>
              <a:gd name="adj" fmla="val 6215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642158" y="3024426"/>
            <a:ext cx="4208145" cy="121920"/>
          </a:xfrm>
          <a:prstGeom prst="roundRect">
            <a:avLst>
              <a:gd name="adj" fmla="val 76787"/>
            </a:avLst>
          </a:prstGeom>
          <a:solidFill>
            <a:srgbClr val="1B1B27"/>
          </a:solidFill>
          <a:ln/>
        </p:spPr>
      </p:sp>
      <p:sp>
        <p:nvSpPr>
          <p:cNvPr id="18" name="Shape 16"/>
          <p:cNvSpPr/>
          <p:nvPr/>
        </p:nvSpPr>
        <p:spPr>
          <a:xfrm>
            <a:off x="11411902" y="2720578"/>
            <a:ext cx="668655" cy="668655"/>
          </a:xfrm>
          <a:prstGeom prst="roundRect">
            <a:avLst>
              <a:gd name="adj" fmla="val 136752"/>
            </a:avLst>
          </a:prstGeom>
          <a:solidFill>
            <a:srgbClr val="1B1B27"/>
          </a:solidFill>
          <a:ln/>
        </p:spPr>
      </p:sp>
      <p:sp>
        <p:nvSpPr>
          <p:cNvPr id="19" name="Text 17"/>
          <p:cNvSpPr/>
          <p:nvPr/>
        </p:nvSpPr>
        <p:spPr>
          <a:xfrm>
            <a:off x="11612523" y="2887742"/>
            <a:ext cx="267414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9895523" y="3612118"/>
            <a:ext cx="3701415" cy="696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Поиск и сортировка событий</a:t>
            </a:r>
            <a:endParaRPr lang="en-US" sz="2150" dirty="0"/>
          </a:p>
        </p:txBody>
      </p:sp>
      <p:sp>
        <p:nvSpPr>
          <p:cNvPr id="21" name="Text 19"/>
          <p:cNvSpPr/>
          <p:nvPr/>
        </p:nvSpPr>
        <p:spPr>
          <a:xfrm>
            <a:off x="9895523" y="4442341"/>
            <a:ext cx="3701415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Поиск (дата, категория, место), сортировка.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780098" y="5966103"/>
            <a:ext cx="6423660" cy="1649135"/>
          </a:xfrm>
          <a:prstGeom prst="roundRect">
            <a:avLst>
              <a:gd name="adj" fmla="val 8872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80098" y="5935623"/>
            <a:ext cx="6423660" cy="121920"/>
          </a:xfrm>
          <a:prstGeom prst="roundRect">
            <a:avLst>
              <a:gd name="adj" fmla="val 76787"/>
            </a:avLst>
          </a:prstGeom>
          <a:solidFill>
            <a:srgbClr val="1B1B27"/>
          </a:solidFill>
          <a:ln/>
        </p:spPr>
      </p:sp>
      <p:sp>
        <p:nvSpPr>
          <p:cNvPr id="24" name="Shape 22"/>
          <p:cNvSpPr/>
          <p:nvPr/>
        </p:nvSpPr>
        <p:spPr>
          <a:xfrm>
            <a:off x="3657600" y="5631775"/>
            <a:ext cx="668655" cy="668655"/>
          </a:xfrm>
          <a:prstGeom prst="roundRect">
            <a:avLst>
              <a:gd name="adj" fmla="val 136752"/>
            </a:avLst>
          </a:prstGeom>
          <a:solidFill>
            <a:srgbClr val="1B1B27"/>
          </a:solidFill>
          <a:ln/>
        </p:spPr>
      </p:sp>
      <p:sp>
        <p:nvSpPr>
          <p:cNvPr id="25" name="Text 23"/>
          <p:cNvSpPr/>
          <p:nvPr/>
        </p:nvSpPr>
        <p:spPr>
          <a:xfrm>
            <a:off x="3858220" y="5798939"/>
            <a:ext cx="267414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1033462" y="6523315"/>
            <a:ext cx="4504015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Добавление отзывов и рейтингов</a:t>
            </a:r>
            <a:endParaRPr lang="en-US" sz="2150" dirty="0"/>
          </a:p>
        </p:txBody>
      </p:sp>
      <p:sp>
        <p:nvSpPr>
          <p:cNvPr id="27" name="Text 25"/>
          <p:cNvSpPr/>
          <p:nvPr/>
        </p:nvSpPr>
        <p:spPr>
          <a:xfrm>
            <a:off x="1033462" y="7005280"/>
            <a:ext cx="5916930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Отзывы и оценки событий.</a:t>
            </a:r>
            <a:endParaRPr lang="en-US" sz="1750" dirty="0"/>
          </a:p>
        </p:txBody>
      </p:sp>
      <p:sp>
        <p:nvSpPr>
          <p:cNvPr id="28" name="Shape 26"/>
          <p:cNvSpPr/>
          <p:nvPr/>
        </p:nvSpPr>
        <p:spPr>
          <a:xfrm>
            <a:off x="7426642" y="5966103"/>
            <a:ext cx="6423660" cy="1649135"/>
          </a:xfrm>
          <a:prstGeom prst="roundRect">
            <a:avLst>
              <a:gd name="adj" fmla="val 8872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7426642" y="5935623"/>
            <a:ext cx="6423660" cy="121920"/>
          </a:xfrm>
          <a:prstGeom prst="roundRect">
            <a:avLst>
              <a:gd name="adj" fmla="val 76787"/>
            </a:avLst>
          </a:prstGeom>
          <a:solidFill>
            <a:srgbClr val="1B1B27"/>
          </a:solidFill>
          <a:ln/>
        </p:spPr>
      </p:sp>
      <p:sp>
        <p:nvSpPr>
          <p:cNvPr id="30" name="Shape 28"/>
          <p:cNvSpPr/>
          <p:nvPr/>
        </p:nvSpPr>
        <p:spPr>
          <a:xfrm>
            <a:off x="10304145" y="5631775"/>
            <a:ext cx="668655" cy="668655"/>
          </a:xfrm>
          <a:prstGeom prst="roundRect">
            <a:avLst>
              <a:gd name="adj" fmla="val 136752"/>
            </a:avLst>
          </a:prstGeom>
          <a:solidFill>
            <a:srgbClr val="1B1B27"/>
          </a:solidFill>
          <a:ln/>
        </p:spPr>
      </p:sp>
      <p:sp>
        <p:nvSpPr>
          <p:cNvPr id="31" name="Text 29"/>
          <p:cNvSpPr/>
          <p:nvPr/>
        </p:nvSpPr>
        <p:spPr>
          <a:xfrm>
            <a:off x="10504765" y="5798939"/>
            <a:ext cx="267414" cy="3343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7680008" y="6523315"/>
            <a:ext cx="3388995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Добавление в избранное</a:t>
            </a:r>
            <a:endParaRPr lang="en-US" sz="2150" dirty="0"/>
          </a:p>
        </p:txBody>
      </p:sp>
      <p:sp>
        <p:nvSpPr>
          <p:cNvPr id="33" name="Text 31"/>
          <p:cNvSpPr/>
          <p:nvPr/>
        </p:nvSpPr>
        <p:spPr>
          <a:xfrm>
            <a:off x="7680008" y="7005280"/>
            <a:ext cx="5916930" cy="356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Сохранение событий в избранном.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53402"/>
            <a:ext cx="664559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Интерфейс приложения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8800" y="3622834"/>
            <a:ext cx="340162" cy="3401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30906" y="36158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Главная страница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1530906" y="4106228"/>
            <a:ext cx="56424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Обзор мероприятий, поиск, фильтры.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1895" y="3622834"/>
            <a:ext cx="340162" cy="34016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94000" y="361580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Страница события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8194000" y="4106228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Детали события: описание, место, время, отзывы.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8800" y="4929783"/>
            <a:ext cx="340162" cy="3401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30906" y="49227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Избранное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530906" y="5413177"/>
            <a:ext cx="56424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Список избранных мероприятий.</a:t>
            </a:r>
            <a:endParaRPr lang="en-US" sz="17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41895" y="4929783"/>
            <a:ext cx="340162" cy="34016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194000" y="4922758"/>
            <a:ext cx="36223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Форма добавления отзыва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8194000" y="5413177"/>
            <a:ext cx="564261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Добавление отзыва и оценки.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2026-01-13T09:27:16Z</dcterms:created>
  <dcterms:modified xsi:type="dcterms:W3CDTF">2026-01-13T09:27:16Z</dcterms:modified>
</cp:coreProperties>
</file>